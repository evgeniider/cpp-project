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день. Меня зовут Евгений, тема моей дипломной работы — QuantumTrader Pro, торговый терминал реального времени, разработанный на языке C++ с использованием фреймворка Qt и аппаратного рендеринга через OpenGL. Терминал подключается к криптобирже Bybit по WebSocket, отображает рыночные данные в реальном времени и собирает данные для обучения модели машинного обучения, распознающей аномальную активность в стакане заявок.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Существующие браузерные торговые терминалы имеют три принципиальных ограничения: скорость обработки данных, рендеринг графики и расширяемость. Есть и четвёртая проблема, из-за которой родилась аналитическая часть работы: крупные игроки маскируют присутствие — человек физически не успевает заметить спуфинг за доли секунды, а классический теханализ видит сигнал слишком поздно.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Система построена в три слоя: источник данных (Bybit WebSocket API), бизнес-логика (BybitConnector, ByBitParser, MarketDataManager, EventBus, OrderBookHistoryManager) и интерфейс (ChartContainer, OrderBookContainer, TimeAndSalesContainer, WindowManager). Главное преимущество — модули не знают друг о друге.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C++20 даёт производительность нативного кода без накладных расходов интерпретатора. simdjson выбран осознанно после сравнения трёх подходов — результат меньше одной микросекунды на сообщение. CatBoost подключён через C-обёртку и используется как для инференса, так и как целевой потребитель собираемых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График свечей построен на QOpenGLWidget — GPU рисует каждую свечу напрямую. Стакан заявок обрабатывает снимок и delta-обновления, три независимо перетаскиваемых колонки остаются видимы при любом сужении окна. Лента сделок — данные через publicTrade Bybit, авто-скролл и буфер на 500 тиков.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падение объёма совпадает с объёмом исполненных сделок — это честная торговля. Если сделок не было, а объём исчез — это признак отмены заявки, потенциальный спуфинг. Результат — не бинарная метка, а доля необъяснённого падения fakeRatio от 0 до 1. Данные хранятся в скользящем FIFO-окне: новые добавляются, старые вытесняются автоматически. OrderBookCsvExporter размечает target через горизонт времени — упрощённая версия Triple Barrier. Пайплайн проверен вживую на BTCUSDT.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Парсинг одного JSON-сообщения через simdjson занимает меньше одной микросекунды. Рендеринг интерфейса работает на стабильных 60 кадрах в секунду. Задержка данных от биржи через WebSocket — менее 50 миллисекунд.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Первое направление — доведение аналитического модуля до архитектуры из двух моделей: detector на длинном окне и entry на коротком, плюс полноценный Triple Barrier и ALOR. Второе — расширение терминала: Lua-скриптинг, алерты, мультибиржевость, watchlist. Архитектура EventBus уже готова к этим расширениям.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ходе работы реализован полноценный торговый терминал с тремя модулями отображения рыночных данных, а также модуль сбора и разметки данных стакана для обучения модели детекции аномальной активности через CatBoost. Спасибо за внимание, готов ответить на вопросы.
ВОЗМОЖНЫЕ ВОПРОСЫ:
— Почему C++, а не Python/Java? Прямой контроль памяти и производительность без GC.
— Потокобезопасность? WS в пуле потоков, EventBus через Qt::QueuedConnection.
— Почему Bybit? Открытая документация, публичные данные без авторизации, IConnector позволит добавить другие биржи.
— Delta-обновления? Snapshot + только изменившиеся уровни, экономия трафика.
— Как отличаете спуфинг? Сверка падения объёма с лентой сделок, fakeRatio как признак, не жёсткая метка.
— Почему CatBoost, а не LSTM? Данные табличные, не последовательность; бустинг лучше на малых данных, встроенная C++ обёртка.
— Что с моделью при обновлении окна? FIFO-вытеснение данных, модель переобучается с нуля на текущем окне, а не дообучается инкрементально — иначе устаревшие паттерны остаются зашиты навсегда.
— Как считается target? Поиск точки через горизонт времени вперёд, сравнение цены — упрощённый Triple Barrier, полная версия с ATR — в планах.
— Тестировалось под нагрузкой? Да, на реальных данных BTCUSDT, 60 FPS, пайплайн сбора данных проверен вживую.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3657600" cy="365760"/>
          </a:xfrm>
          <a:prstGeom prst="rect">
            <a:avLst/>
          </a:prstGeom>
          <a:solidFill>
            <a:srgbClr val="F0A9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ДИПЛОМНАЯ РАБОТА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9659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QuantumTrader Pro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Торговый терминал реального времени на базе C++ / Qt / OpenGL, с модулем сбора данных для детекции аномальной активности в стакане заявок.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5349240"/>
            <a:ext cx="2926080" cy="0"/>
          </a:xfrm>
          <a:prstGeom prst="line">
            <a:avLst/>
          </a:prstGeom>
          <a:noFill/>
          <a:ln w="12700">
            <a:solidFill>
              <a:srgbClr val="6E61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Евгений  · 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53144" y="5029200"/>
            <a:ext cx="0" cy="1097280"/>
          </a:xfrm>
          <a:prstGeom prst="line">
            <a:avLst/>
          </a:prstGeom>
          <a:noFill/>
          <a:ln w="12700">
            <a:solidFill>
              <a:srgbClr val="0ECB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0" y="5166360"/>
            <a:ext cx="201168" cy="822960"/>
          </a:xfrm>
          <a:prstGeom prst="rect">
            <a:avLst/>
          </a:prstGeom>
          <a:solidFill>
            <a:srgbClr val="0ECB81"/>
          </a:solidFill>
          <a:ln/>
        </p:spPr>
      </p:sp>
      <p:sp>
        <p:nvSpPr>
          <p:cNvPr id="9" name="Shape 7"/>
          <p:cNvSpPr/>
          <p:nvPr/>
        </p:nvSpPr>
        <p:spPr>
          <a:xfrm>
            <a:off x="9537192" y="4572000"/>
            <a:ext cx="0" cy="1554480"/>
          </a:xfrm>
          <a:prstGeom prst="line">
            <a:avLst/>
          </a:prstGeom>
          <a:noFill/>
          <a:ln w="12700">
            <a:solidFill>
              <a:srgbClr val="F6465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36608" y="4709160"/>
            <a:ext cx="201168" cy="1280160"/>
          </a:xfrm>
          <a:prstGeom prst="rect">
            <a:avLst/>
          </a:prstGeom>
          <a:solidFill>
            <a:srgbClr val="F6465D"/>
          </a:solidFill>
          <a:ln/>
        </p:spPr>
      </p:sp>
      <p:sp>
        <p:nvSpPr>
          <p:cNvPr id="11" name="Shape 9"/>
          <p:cNvSpPr/>
          <p:nvPr/>
        </p:nvSpPr>
        <p:spPr>
          <a:xfrm>
            <a:off x="9921240" y="5212080"/>
            <a:ext cx="0" cy="914400"/>
          </a:xfrm>
          <a:prstGeom prst="line">
            <a:avLst/>
          </a:prstGeom>
          <a:noFill/>
          <a:ln w="12700">
            <a:solidFill>
              <a:srgbClr val="0ECB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0656" y="5349240"/>
            <a:ext cx="201168" cy="640080"/>
          </a:xfrm>
          <a:prstGeom prst="rect">
            <a:avLst/>
          </a:prstGeom>
          <a:solidFill>
            <a:srgbClr val="0ECB8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05288" y="4297680"/>
            <a:ext cx="0" cy="1828800"/>
          </a:xfrm>
          <a:prstGeom prst="line">
            <a:avLst/>
          </a:prstGeom>
          <a:noFill/>
          <a:ln w="12700">
            <a:solidFill>
              <a:srgbClr val="0ECB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04704" y="4434840"/>
            <a:ext cx="201168" cy="1554480"/>
          </a:xfrm>
          <a:prstGeom prst="rect">
            <a:avLst/>
          </a:prstGeom>
          <a:solidFill>
            <a:srgbClr val="0ECB8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89336" y="4846320"/>
            <a:ext cx="0" cy="1280160"/>
          </a:xfrm>
          <a:prstGeom prst="line">
            <a:avLst/>
          </a:prstGeom>
          <a:noFill/>
          <a:ln w="12700">
            <a:solidFill>
              <a:srgbClr val="F6465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88752" y="4983480"/>
            <a:ext cx="201168" cy="1005840"/>
          </a:xfrm>
          <a:prstGeom prst="rect">
            <a:avLst/>
          </a:prstGeom>
          <a:solidFill>
            <a:srgbClr val="F6465D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73384" y="4114800"/>
            <a:ext cx="0" cy="2011680"/>
          </a:xfrm>
          <a:prstGeom prst="line">
            <a:avLst/>
          </a:prstGeom>
          <a:noFill/>
          <a:ln w="12700">
            <a:solidFill>
              <a:srgbClr val="0ECB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4251960"/>
            <a:ext cx="201168" cy="1737360"/>
          </a:xfrm>
          <a:prstGeom prst="rect">
            <a:avLst/>
          </a:prstGeom>
          <a:solidFill>
            <a:srgbClr val="0ECB81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57432" y="4663440"/>
            <a:ext cx="0" cy="1463040"/>
          </a:xfrm>
          <a:prstGeom prst="line">
            <a:avLst/>
          </a:prstGeom>
          <a:noFill/>
          <a:ln w="12700">
            <a:solidFill>
              <a:srgbClr val="F6465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56848" y="4800600"/>
            <a:ext cx="201168" cy="1188720"/>
          </a:xfrm>
          <a:prstGeom prst="rect">
            <a:avLst/>
          </a:prstGeom>
          <a:solidFill>
            <a:srgbClr val="F6465D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41480" y="3931920"/>
            <a:ext cx="0" cy="2194560"/>
          </a:xfrm>
          <a:prstGeom prst="line">
            <a:avLst/>
          </a:prstGeom>
          <a:noFill/>
          <a:ln w="12700">
            <a:solidFill>
              <a:srgbClr val="0ECB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40896" y="4069080"/>
            <a:ext cx="201168" cy="1920240"/>
          </a:xfrm>
          <a:prstGeom prst="rect">
            <a:avLst/>
          </a:prstGeom>
          <a:solidFill>
            <a:srgbClr val="0ECB8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существующие решения не справляются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74920" cy="1554480"/>
          </a:xfrm>
          <a:prstGeom prst="roundRect">
            <a:avLst>
              <a:gd name="adj" fmla="val 4706"/>
            </a:avLst>
          </a:prstGeom>
          <a:solidFill>
            <a:srgbClr val="271C2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31243A"/>
          </a:solidFill>
          <a:ln w="15875">
            <a:solidFill>
              <a:srgbClr val="F0A9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8562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данных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22199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Bybit отправляет обновления тысячи раз в секунду — JS-решения в браузере не успевают без потерь.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1600200"/>
            <a:ext cx="5074920" cy="1554480"/>
          </a:xfrm>
          <a:prstGeom prst="roundRect">
            <a:avLst>
              <a:gd name="adj" fmla="val 4706"/>
            </a:avLst>
          </a:prstGeom>
          <a:solidFill>
            <a:srgbClr val="271C2E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1874520"/>
            <a:ext cx="502920" cy="502920"/>
          </a:xfrm>
          <a:prstGeom prst="ellipse">
            <a:avLst/>
          </a:prstGeom>
          <a:solidFill>
            <a:srgbClr val="31243A"/>
          </a:solidFill>
          <a:ln w="15875">
            <a:solidFill>
              <a:srgbClr val="F0A9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18562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Рендеринг графики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222199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свечей, стакан и лента сделок одновременно — нужна аппаратная графика. CSS и Canvas не справляются.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5074920" cy="1554480"/>
          </a:xfrm>
          <a:prstGeom prst="roundRect">
            <a:avLst>
              <a:gd name="adj" fmla="val 4706"/>
            </a:avLst>
          </a:prstGeom>
          <a:solidFill>
            <a:srgbClr val="271C2E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3703320"/>
            <a:ext cx="502920" cy="502920"/>
          </a:xfrm>
          <a:prstGeom prst="ellipse">
            <a:avLst/>
          </a:prstGeom>
          <a:solidFill>
            <a:srgbClr val="31243A"/>
          </a:solidFill>
          <a:ln w="15875">
            <a:solidFill>
              <a:srgbClr val="F0A9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6850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Расширяемость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05079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Трейдеры хотят писать собственные индикаторы, не дожидаясь обновлений от разработчика.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3429000"/>
            <a:ext cx="5074920" cy="1554480"/>
          </a:xfrm>
          <a:prstGeom prst="roundRect">
            <a:avLst>
              <a:gd name="adj" fmla="val 4706"/>
            </a:avLst>
          </a:prstGeom>
          <a:solidFill>
            <a:srgbClr val="271C2E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3703320"/>
            <a:ext cx="502920" cy="502920"/>
          </a:xfrm>
          <a:prstGeom prst="ellipse">
            <a:avLst/>
          </a:prstGeom>
          <a:solidFill>
            <a:srgbClr val="31243A"/>
          </a:solidFill>
          <a:ln w="15875">
            <a:solidFill>
              <a:srgbClr val="F0A9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36850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Скрытая активность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405079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Крупные игроки дробят ордера и выставляют/снимают заявки (спуфинг) быстрее, чем человек успевает заметить.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349240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3A2712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349240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—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нативный десктопный терминал на C++, где скорость и расширяемость решены на уровне архитектуры, а поверх — модуль сбора данных, размечающий поведение стакана для обучения модели.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независимых слоя системы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ДАННЫХ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271C2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65960"/>
            <a:ext cx="5129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Bybit WebSocket API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96596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271C2E"/>
          </a:solidFill>
          <a:ln/>
        </p:spPr>
      </p:sp>
      <p:sp>
        <p:nvSpPr>
          <p:cNvPr id="8" name="Text 6"/>
          <p:cNvSpPr/>
          <p:nvPr/>
        </p:nvSpPr>
        <p:spPr>
          <a:xfrm>
            <a:off x="6281928" y="1965960"/>
            <a:ext cx="5129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kline / orderbook / publicTrade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БИЗНЕС-ЛОГИКА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2029968" cy="594360"/>
          </a:xfrm>
          <a:prstGeom prst="roundRect">
            <a:avLst>
              <a:gd name="adj" fmla="val 12308"/>
            </a:avLst>
          </a:prstGeom>
          <a:solidFill>
            <a:srgbClr val="271C2E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315468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BybitConnector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52928" y="3154680"/>
            <a:ext cx="2029968" cy="594360"/>
          </a:xfrm>
          <a:prstGeom prst="roundRect">
            <a:avLst>
              <a:gd name="adj" fmla="val 12308"/>
            </a:avLst>
          </a:prstGeom>
          <a:solidFill>
            <a:srgbClr val="271C2E"/>
          </a:solidFill>
          <a:ln/>
        </p:spPr>
      </p:sp>
      <p:sp>
        <p:nvSpPr>
          <p:cNvPr id="13" name="Text 11"/>
          <p:cNvSpPr/>
          <p:nvPr/>
        </p:nvSpPr>
        <p:spPr>
          <a:xfrm>
            <a:off x="2962656" y="315468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ByBitParser (simdjson)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65776" y="3154680"/>
            <a:ext cx="2029968" cy="594360"/>
          </a:xfrm>
          <a:prstGeom prst="roundRect">
            <a:avLst>
              <a:gd name="adj" fmla="val 12308"/>
            </a:avLst>
          </a:prstGeom>
          <a:solidFill>
            <a:srgbClr val="271C2E"/>
          </a:solidFill>
          <a:ln/>
        </p:spPr>
      </p:sp>
      <p:sp>
        <p:nvSpPr>
          <p:cNvPr id="15" name="Text 13"/>
          <p:cNvSpPr/>
          <p:nvPr/>
        </p:nvSpPr>
        <p:spPr>
          <a:xfrm>
            <a:off x="5175504" y="315468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MarketDataManager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78624" y="3154680"/>
            <a:ext cx="2029968" cy="594360"/>
          </a:xfrm>
          <a:prstGeom prst="roundRect">
            <a:avLst>
              <a:gd name="adj" fmla="val 12308"/>
            </a:avLst>
          </a:prstGeom>
          <a:solidFill>
            <a:srgbClr val="271C2E"/>
          </a:solidFill>
          <a:ln/>
        </p:spPr>
      </p:sp>
      <p:sp>
        <p:nvSpPr>
          <p:cNvPr id="17" name="Text 15"/>
          <p:cNvSpPr/>
          <p:nvPr/>
        </p:nvSpPr>
        <p:spPr>
          <a:xfrm>
            <a:off x="7388352" y="315468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EventBus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491472" y="3154680"/>
            <a:ext cx="2029968" cy="594360"/>
          </a:xfrm>
          <a:prstGeom prst="roundRect">
            <a:avLst>
              <a:gd name="adj" fmla="val 12308"/>
            </a:avLst>
          </a:prstGeom>
          <a:solidFill>
            <a:srgbClr val="271C2E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0" y="315468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OrderBookHistoryManager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(Qt Widgets + OpenGL)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343400"/>
            <a:ext cx="2583180" cy="594360"/>
          </a:xfrm>
          <a:prstGeom prst="roundRect">
            <a:avLst>
              <a:gd name="adj" fmla="val 12308"/>
            </a:avLst>
          </a:prstGeom>
          <a:solidFill>
            <a:srgbClr val="271C2E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343400"/>
            <a:ext cx="23637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ChartContainer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06140" y="4343400"/>
            <a:ext cx="2583180" cy="594360"/>
          </a:xfrm>
          <a:prstGeom prst="roundRect">
            <a:avLst>
              <a:gd name="adj" fmla="val 12308"/>
            </a:avLst>
          </a:prstGeom>
          <a:solidFill>
            <a:srgbClr val="271C2E"/>
          </a:solidFill>
          <a:ln/>
        </p:spPr>
      </p:sp>
      <p:sp>
        <p:nvSpPr>
          <p:cNvPr id="24" name="Text 22"/>
          <p:cNvSpPr/>
          <p:nvPr/>
        </p:nvSpPr>
        <p:spPr>
          <a:xfrm>
            <a:off x="3515868" y="4343400"/>
            <a:ext cx="23637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OrderBookContainer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4343400"/>
            <a:ext cx="2583180" cy="594360"/>
          </a:xfrm>
          <a:prstGeom prst="roundRect">
            <a:avLst>
              <a:gd name="adj" fmla="val 12308"/>
            </a:avLst>
          </a:prstGeom>
          <a:solidFill>
            <a:srgbClr val="271C2E"/>
          </a:solidFill>
          <a:ln/>
        </p:spPr>
      </p:sp>
      <p:sp>
        <p:nvSpPr>
          <p:cNvPr id="26" name="Text 24"/>
          <p:cNvSpPr/>
          <p:nvPr/>
        </p:nvSpPr>
        <p:spPr>
          <a:xfrm>
            <a:off x="6281928" y="4343400"/>
            <a:ext cx="23637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TimeAndSalesContainer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938260" y="4343400"/>
            <a:ext cx="2583180" cy="594360"/>
          </a:xfrm>
          <a:prstGeom prst="roundRect">
            <a:avLst>
              <a:gd name="adj" fmla="val 12308"/>
            </a:avLst>
          </a:prstGeom>
          <a:solidFill>
            <a:srgbClr val="271C2E"/>
          </a:solidFill>
          <a:ln/>
        </p:spPr>
      </p:sp>
      <p:sp>
        <p:nvSpPr>
          <p:cNvPr id="28" name="Text 26"/>
          <p:cNvSpPr/>
          <p:nvPr/>
        </p:nvSpPr>
        <p:spPr>
          <a:xfrm>
            <a:off x="9047988" y="4343400"/>
            <a:ext cx="23637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WindowManager (ADS)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80760" y="2560320"/>
            <a:ext cx="0" cy="228600"/>
          </a:xfrm>
          <a:prstGeom prst="line">
            <a:avLst/>
          </a:prstGeom>
          <a:noFill/>
          <a:ln w="25400">
            <a:solidFill>
              <a:srgbClr val="F0A93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080760" y="3749040"/>
            <a:ext cx="0" cy="228600"/>
          </a:xfrm>
          <a:prstGeom prst="line">
            <a:avLst/>
          </a:prstGeom>
          <a:noFill/>
          <a:ln w="25400">
            <a:solidFill>
              <a:srgbClr val="F0A93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0080" y="5212080"/>
            <a:ext cx="10927080" cy="685800"/>
          </a:xfrm>
          <a:prstGeom prst="roundRect">
            <a:avLst>
              <a:gd name="adj" fmla="val 10667"/>
            </a:avLst>
          </a:prstGeom>
          <a:solidFill>
            <a:srgbClr val="3A2712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5212080"/>
            <a:ext cx="10378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Модули не знают друг о друге — новый виджет, биржа или набор признаков добавляются без изменения существующего кода.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Инструменты и почему именно они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271C2E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47672"/>
            <a:ext cx="365760" cy="54864"/>
          </a:xfrm>
          <a:prstGeom prst="rect">
            <a:avLst/>
          </a:prstGeom>
          <a:solidFill>
            <a:srgbClr val="F0A93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0312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C++20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2514600"/>
            <a:ext cx="20939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Производительность нативного кода, RAII, move-семантика. Правило пяти в EventBus.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47288" y="16916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271C2E"/>
          </a:solidFill>
          <a:ln/>
        </p:spPr>
      </p:sp>
      <p:sp>
        <p:nvSpPr>
          <p:cNvPr id="9" name="Shape 7"/>
          <p:cNvSpPr/>
          <p:nvPr/>
        </p:nvSpPr>
        <p:spPr>
          <a:xfrm>
            <a:off x="3703320" y="1947672"/>
            <a:ext cx="365760" cy="54864"/>
          </a:xfrm>
          <a:prstGeom prst="rect">
            <a:avLst/>
          </a:prstGeom>
          <a:solidFill>
            <a:srgbClr val="F0A93E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210312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Qt 6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03320" y="2514600"/>
            <a:ext cx="20939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Сигналы/слоты для событийной архитектуры, Qt ADS для dock-панелей.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54496" y="16916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271C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510528" y="1947672"/>
            <a:ext cx="365760" cy="54864"/>
          </a:xfrm>
          <a:prstGeom prst="rect">
            <a:avLst/>
          </a:prstGeom>
          <a:solidFill>
            <a:srgbClr val="F0A93E"/>
          </a:solidFill>
          <a:ln/>
        </p:spPr>
      </p:sp>
      <p:sp>
        <p:nvSpPr>
          <p:cNvPr id="14" name="Text 12"/>
          <p:cNvSpPr/>
          <p:nvPr/>
        </p:nvSpPr>
        <p:spPr>
          <a:xfrm>
            <a:off x="6510528" y="210312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OpenGL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0528" y="2514600"/>
            <a:ext cx="20939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GPU-рендеринг через QOpenGLWidget — тысячи свечей без потери FPS.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61704" y="16916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271C2E"/>
          </a:solidFill>
          <a:ln/>
        </p:spPr>
      </p:sp>
      <p:sp>
        <p:nvSpPr>
          <p:cNvPr id="17" name="Shape 15"/>
          <p:cNvSpPr/>
          <p:nvPr/>
        </p:nvSpPr>
        <p:spPr>
          <a:xfrm>
            <a:off x="9317736" y="1947672"/>
            <a:ext cx="365760" cy="54864"/>
          </a:xfrm>
          <a:prstGeom prst="rect">
            <a:avLst/>
          </a:prstGeom>
          <a:solidFill>
            <a:srgbClr val="F0A93E"/>
          </a:solidFill>
          <a:ln/>
        </p:spPr>
      </p:sp>
      <p:sp>
        <p:nvSpPr>
          <p:cNvPr id="18" name="Text 16"/>
          <p:cNvSpPr/>
          <p:nvPr/>
        </p:nvSpPr>
        <p:spPr>
          <a:xfrm>
            <a:off x="9317736" y="210312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simdjson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317736" y="2514600"/>
            <a:ext cx="20939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SIMD-парсинг JSON. Выбран после сравнения с C# и Qt JSON — &lt; 1 мкс на сообщение.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858768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271C2E"/>
          </a:solidFill>
          <a:ln/>
        </p:spPr>
      </p:sp>
      <p:sp>
        <p:nvSpPr>
          <p:cNvPr id="21" name="Shape 19"/>
          <p:cNvSpPr/>
          <p:nvPr/>
        </p:nvSpPr>
        <p:spPr>
          <a:xfrm>
            <a:off x="896112" y="4114800"/>
            <a:ext cx="365760" cy="54864"/>
          </a:xfrm>
          <a:prstGeom prst="rect">
            <a:avLst/>
          </a:prstGeom>
          <a:solidFill>
            <a:srgbClr val="F0A93E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4270248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CatBoost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96112" y="4681728"/>
            <a:ext cx="20939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Градиентный бустинг, C-обёртка ModelCalcerWrapper — инференс и целевой потребитель данных.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47288" y="3858768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271C2E"/>
          </a:solidFill>
          <a:ln/>
        </p:spPr>
      </p:sp>
      <p:sp>
        <p:nvSpPr>
          <p:cNvPr id="25" name="Shape 23"/>
          <p:cNvSpPr/>
          <p:nvPr/>
        </p:nvSpPr>
        <p:spPr>
          <a:xfrm>
            <a:off x="3703320" y="4114800"/>
            <a:ext cx="365760" cy="54864"/>
          </a:xfrm>
          <a:prstGeom prst="rect">
            <a:avLst/>
          </a:prstGeom>
          <a:solidFill>
            <a:srgbClr val="F0A93E"/>
          </a:solidFill>
          <a:ln/>
        </p:spPr>
      </p:sp>
      <p:sp>
        <p:nvSpPr>
          <p:cNvPr id="26" name="Text 24"/>
          <p:cNvSpPr/>
          <p:nvPr/>
        </p:nvSpPr>
        <p:spPr>
          <a:xfrm>
            <a:off x="3703320" y="4270248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WebSocket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703320" y="4681728"/>
            <a:ext cx="20939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Асинхронный push-канал от Bybit в реальном времени.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54496" y="3858768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271C2E"/>
          </a:solidFill>
          <a:ln/>
        </p:spPr>
      </p:sp>
      <p:sp>
        <p:nvSpPr>
          <p:cNvPr id="29" name="Shape 27"/>
          <p:cNvSpPr/>
          <p:nvPr/>
        </p:nvSpPr>
        <p:spPr>
          <a:xfrm>
            <a:off x="6510528" y="4114800"/>
            <a:ext cx="365760" cy="54864"/>
          </a:xfrm>
          <a:prstGeom prst="rect">
            <a:avLst/>
          </a:prstGeom>
          <a:solidFill>
            <a:srgbClr val="F0A93E"/>
          </a:solidFill>
          <a:ln/>
        </p:spPr>
      </p:sp>
      <p:sp>
        <p:nvSpPr>
          <p:cNvPr id="30" name="Text 28"/>
          <p:cNvSpPr/>
          <p:nvPr/>
        </p:nvSpPr>
        <p:spPr>
          <a:xfrm>
            <a:off x="6510528" y="4270248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CMake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510528" y="4681728"/>
            <a:ext cx="20939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GLOB_RECURSE — новые файлы подхватываются автоматически.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РЕАЛИЗОВАННЫЕ МОДУЛИ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модуля визуализации рынка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38728" cy="3931920"/>
          </a:xfrm>
          <a:prstGeom prst="roundRect">
            <a:avLst>
              <a:gd name="adj" fmla="val 2067"/>
            </a:avLst>
          </a:prstGeom>
          <a:solidFill>
            <a:srgbClr val="271C2E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011680"/>
            <a:ext cx="2953512" cy="73152"/>
          </a:xfrm>
          <a:prstGeom prst="rect">
            <a:avLst/>
          </a:prstGeom>
          <a:solidFill>
            <a:srgbClr val="0ECB81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24028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График свечей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32688" y="2880360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QOpenGLWidget — GPU рисует каждую свечу. История через REST, live через WebSocket. Все таймфреймы Bybit.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1688" y="1691640"/>
            <a:ext cx="3538728" cy="3931920"/>
          </a:xfrm>
          <a:prstGeom prst="roundRect">
            <a:avLst>
              <a:gd name="adj" fmla="val 2067"/>
            </a:avLst>
          </a:prstGeom>
          <a:solidFill>
            <a:srgbClr val="271C2E"/>
          </a:solidFill>
          <a:ln/>
        </p:spPr>
      </p:sp>
      <p:sp>
        <p:nvSpPr>
          <p:cNvPr id="9" name="Shape 7"/>
          <p:cNvSpPr/>
          <p:nvPr/>
        </p:nvSpPr>
        <p:spPr>
          <a:xfrm>
            <a:off x="4654296" y="2011680"/>
            <a:ext cx="2953512" cy="73152"/>
          </a:xfrm>
          <a:prstGeom prst="rect">
            <a:avLst/>
          </a:prstGeom>
          <a:solidFill>
            <a:srgbClr val="F0A93E"/>
          </a:solidFill>
          <a:ln/>
        </p:spPr>
      </p:sp>
      <p:sp>
        <p:nvSpPr>
          <p:cNvPr id="10" name="Text 8"/>
          <p:cNvSpPr/>
          <p:nvPr/>
        </p:nvSpPr>
        <p:spPr>
          <a:xfrm>
            <a:off x="4654296" y="224028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Book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54296" y="2880360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снимок + delta-обновления. Три независимо перетаскиваемых колонки: Price, Size, Total.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1691640"/>
            <a:ext cx="3538728" cy="3931920"/>
          </a:xfrm>
          <a:prstGeom prst="roundRect">
            <a:avLst>
              <a:gd name="adj" fmla="val 2067"/>
            </a:avLst>
          </a:prstGeom>
          <a:solidFill>
            <a:srgbClr val="271C2E"/>
          </a:solidFill>
          <a:ln/>
        </p:spPr>
      </p:sp>
      <p:sp>
        <p:nvSpPr>
          <p:cNvPr id="13" name="Shape 11"/>
          <p:cNvSpPr/>
          <p:nvPr/>
        </p:nvSpPr>
        <p:spPr>
          <a:xfrm>
            <a:off x="8375904" y="2011680"/>
            <a:ext cx="2953512" cy="73152"/>
          </a:xfrm>
          <a:prstGeom prst="rect">
            <a:avLst/>
          </a:prstGeom>
          <a:solidFill>
            <a:srgbClr val="F6465D"/>
          </a:solidFill>
          <a:ln/>
        </p:spPr>
      </p:sp>
      <p:sp>
        <p:nvSpPr>
          <p:cNvPr id="14" name="Text 12"/>
          <p:cNvSpPr/>
          <p:nvPr/>
        </p:nvSpPr>
        <p:spPr>
          <a:xfrm>
            <a:off x="8375904" y="224028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&amp; Sales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75904" y="2880360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Лента сделок через publicTrade. Зелёный — покупка, красный — продажа. Буфер на 500 тиков.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АНАЛИТИЧЕСКИЙ МОДУЛЬ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Детектор аномальной активности в стакане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OrderBookHistoryManager на каждое обновление стакана считает многоуровневый дисбаланс bid/ask (со сглаживанием SMA3) и признаки спуфинга — сверяет падение объёма на уровне цены с реальными сделками из ленты Time &amp; Sales.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31243A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514600"/>
            <a:ext cx="384048" cy="384048"/>
          </a:xfrm>
          <a:prstGeom prst="ellipse">
            <a:avLst/>
          </a:prstGeom>
          <a:solidFill>
            <a:srgbClr val="31243A"/>
          </a:solidFill>
          <a:ln w="15875">
            <a:solidFill>
              <a:srgbClr val="F0A9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990088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Падение объёма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326440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на уровне цены резко упал между снимками.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3040380"/>
            <a:ext cx="201168" cy="0"/>
          </a:xfrm>
          <a:prstGeom prst="line">
            <a:avLst/>
          </a:prstGeom>
          <a:noFill/>
          <a:ln w="19050">
            <a:solidFill>
              <a:srgbClr val="F0A93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47288" y="2331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31243A"/>
          </a:solidFill>
          <a:ln/>
        </p:spPr>
      </p:sp>
      <p:sp>
        <p:nvSpPr>
          <p:cNvPr id="12" name="Shape 10"/>
          <p:cNvSpPr/>
          <p:nvPr/>
        </p:nvSpPr>
        <p:spPr>
          <a:xfrm>
            <a:off x="3648456" y="2514600"/>
            <a:ext cx="384048" cy="384048"/>
          </a:xfrm>
          <a:prstGeom prst="ellipse">
            <a:avLst/>
          </a:prstGeom>
          <a:solidFill>
            <a:srgbClr val="31243A"/>
          </a:solidFill>
          <a:ln w="15875">
            <a:solidFill>
              <a:srgbClr val="F0A9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48456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48456" y="2990088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Сверка с тейпом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48456" y="326440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 исполненными сделками (TradeTick) за тот же интервал.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53328" y="3040380"/>
            <a:ext cx="201168" cy="0"/>
          </a:xfrm>
          <a:prstGeom prst="line">
            <a:avLst/>
          </a:prstGeom>
          <a:noFill/>
          <a:ln w="19050">
            <a:solidFill>
              <a:srgbClr val="F0A93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54496" y="2331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31243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55664" y="2514600"/>
            <a:ext cx="384048" cy="384048"/>
          </a:xfrm>
          <a:prstGeom prst="ellipse">
            <a:avLst/>
          </a:prstGeom>
          <a:solidFill>
            <a:srgbClr val="31243A"/>
          </a:solidFill>
          <a:ln w="15875">
            <a:solidFill>
              <a:srgbClr val="F0A9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55664" y="2990088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fakeRatio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55664" y="326440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необъяснённого падения: 0 — честная торговля, 1 — вероятный спуфинг.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860536" y="3040380"/>
            <a:ext cx="201168" cy="0"/>
          </a:xfrm>
          <a:prstGeom prst="line">
            <a:avLst/>
          </a:prstGeom>
          <a:noFill/>
          <a:ln w="19050">
            <a:solidFill>
              <a:srgbClr val="F0A93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61704" y="2331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31243A"/>
          </a:solidFill>
          <a:ln/>
        </p:spPr>
      </p:sp>
      <p:sp>
        <p:nvSpPr>
          <p:cNvPr id="24" name="Shape 22"/>
          <p:cNvSpPr/>
          <p:nvPr/>
        </p:nvSpPr>
        <p:spPr>
          <a:xfrm>
            <a:off x="9262872" y="2514600"/>
            <a:ext cx="384048" cy="384048"/>
          </a:xfrm>
          <a:prstGeom prst="ellipse">
            <a:avLst/>
          </a:prstGeom>
          <a:solidFill>
            <a:srgbClr val="31243A"/>
          </a:solidFill>
          <a:ln w="15875">
            <a:solidFill>
              <a:srgbClr val="F0A9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62872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62872" y="2990088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FIFO-окно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262872" y="326440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копятся в скользящем окне (std::deque), старое вытесняется автоматически.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41605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271C2E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3708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OrderBookCsvExporter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" y="47548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Каждой строке присваивается target — направление цены через заданный горизонт времени (бинарный поиск по timestamp). Упрощённая версия метода Triple Barrier.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72200" y="41605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271C2E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43708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Проверено вживую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46520" y="47548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DatasetTestCollector подключает модуль к реальному потоку Bybit (orderbook + trades) и пишет CSV с рассчитанными признаками — протестировано на живых данных BTCUSDT.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ключевых показателя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38728" cy="2834640"/>
          </a:xfrm>
          <a:prstGeom prst="roundRect">
            <a:avLst>
              <a:gd name="adj" fmla="val 2581"/>
            </a:avLst>
          </a:prstGeom>
          <a:solidFill>
            <a:srgbClr val="271C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</a:t>
            </a:r>
            <a:pPr indent="0" marL="0">
              <a:buNone/>
            </a:pPr>
            <a:r>
              <a:rPr lang="en-US" sz="2200" b="1" dirty="0">
                <a:solidFill>
                  <a:srgbClr val="F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мкс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 JSON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simdjson (SIMD) — примерно в 10 раз быстрее стандартных парсеров.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1688" y="1737360"/>
            <a:ext cx="3538728" cy="2834640"/>
          </a:xfrm>
          <a:prstGeom prst="roundRect">
            <a:avLst>
              <a:gd name="adj" fmla="val 2581"/>
            </a:avLst>
          </a:prstGeom>
          <a:solidFill>
            <a:srgbClr val="271C2E"/>
          </a:solidFill>
          <a:ln/>
        </p:spPr>
      </p:sp>
      <p:sp>
        <p:nvSpPr>
          <p:cNvPr id="9" name="Text 7"/>
          <p:cNvSpPr/>
          <p:nvPr/>
        </p:nvSpPr>
        <p:spPr>
          <a:xfrm>
            <a:off x="4636008" y="205740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CB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pPr indent="0" marL="0">
              <a:buNone/>
            </a:pPr>
            <a:r>
              <a:rPr lang="en-US" sz="2200" b="1" dirty="0">
                <a:solidFill>
                  <a:srgbClr val="0ECB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FPS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636008" y="310896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Рендеринг UI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6008" y="352044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OpenGL на GPU — основной поток не загружается.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3296" y="1737360"/>
            <a:ext cx="3538728" cy="2834640"/>
          </a:xfrm>
          <a:prstGeom prst="roundRect">
            <a:avLst>
              <a:gd name="adj" fmla="val 2581"/>
            </a:avLst>
          </a:prstGeom>
          <a:solidFill>
            <a:srgbClr val="271C2E"/>
          </a:solidFill>
          <a:ln/>
        </p:spPr>
      </p:sp>
      <p:sp>
        <p:nvSpPr>
          <p:cNvPr id="13" name="Text 11"/>
          <p:cNvSpPr/>
          <p:nvPr/>
        </p:nvSpPr>
        <p:spPr>
          <a:xfrm>
            <a:off x="8357616" y="205740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64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50</a:t>
            </a:r>
            <a:pPr indent="0" marL="0">
              <a:buNone/>
            </a:pPr>
            <a:r>
              <a:rPr lang="en-US" sz="2200" b="1" dirty="0">
                <a:solidFill>
                  <a:srgbClr val="F64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мс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357616" y="310896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данных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7616" y="352044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биржи через WebSocket до отображения на экране.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927080" cy="1234440"/>
          </a:xfrm>
          <a:prstGeom prst="roundRect">
            <a:avLst>
              <a:gd name="adj" fmla="val 5926"/>
            </a:avLst>
          </a:prstGeom>
          <a:solidFill>
            <a:srgbClr val="3A271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892040"/>
            <a:ext cx="10378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Архитектурные решения: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EventBus устраняет лишние зависимости · абсолютные пиксели колонок исключают пересчёт на каждый фрейм · паттерн Container/Widget разделяет подписку и рендеринг.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направления развития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271C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Аналитика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60120" y="2542032"/>
            <a:ext cx="91440" cy="91440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37744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Detector-модель (3 мес.) + entry-модель (2 нед.)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3227832"/>
            <a:ext cx="91440" cy="91440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06324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Полноценный Triple Barrier: TP/SL через ATR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3913632"/>
            <a:ext cx="91440" cy="91440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74904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Вторая площадка — ALOR, кросс-биржевые признаки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5394960" cy="4251960"/>
          </a:xfrm>
          <a:prstGeom prst="roundRect">
            <a:avLst>
              <a:gd name="adj" fmla="val 1720"/>
            </a:avLst>
          </a:prstGeom>
          <a:solidFill>
            <a:srgbClr val="271C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Терминал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492240" y="2542032"/>
            <a:ext cx="91440" cy="91440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377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Lua-скриптинг индикаторов без перекомпиляции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3108960"/>
            <a:ext cx="91440" cy="91440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9443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Алерты по цене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3675888"/>
            <a:ext cx="91440" cy="91440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51129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бирж через единый IConnector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4242816"/>
            <a:ext cx="91440" cy="91440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40782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с live-ценами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 полноценный торговый терминал с тремя модулями отображения рыночных данных, а также модуль сбора и разметки данных стакана для обучения CatBoost-модели детекции аномальной активности. Архитектура на EventBus обеспечивает независимость компонентов и лёгкую расширяемость.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271C2E"/>
          </a:solidFill>
          <a:ln w="9525">
            <a:solidFill>
              <a:srgbClr val="F0A9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7947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C++20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3794760"/>
            <a:ext cx="758952" cy="457200"/>
          </a:xfrm>
          <a:prstGeom prst="roundRect">
            <a:avLst>
              <a:gd name="adj" fmla="val 50000"/>
            </a:avLst>
          </a:prstGeom>
          <a:solidFill>
            <a:srgbClr val="271C2E"/>
          </a:solidFill>
          <a:ln w="9525">
            <a:solidFill>
              <a:srgbClr val="F0A9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3794760"/>
            <a:ext cx="75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16352" y="3794760"/>
            <a:ext cx="978408" cy="457200"/>
          </a:xfrm>
          <a:prstGeom prst="roundRect">
            <a:avLst>
              <a:gd name="adj" fmla="val 50000"/>
            </a:avLst>
          </a:prstGeom>
          <a:solidFill>
            <a:srgbClr val="271C2E"/>
          </a:solidFill>
          <a:ln w="9525">
            <a:solidFill>
              <a:srgbClr val="F0A9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16352" y="3794760"/>
            <a:ext cx="97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77640" y="3794760"/>
            <a:ext cx="1197864" cy="457200"/>
          </a:xfrm>
          <a:prstGeom prst="roundRect">
            <a:avLst>
              <a:gd name="adj" fmla="val 50000"/>
            </a:avLst>
          </a:prstGeom>
          <a:solidFill>
            <a:srgbClr val="271C2E"/>
          </a:solidFill>
          <a:ln w="9525">
            <a:solidFill>
              <a:srgbClr val="F0A9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379476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simdjson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58384" y="3794760"/>
            <a:ext cx="1197864" cy="457200"/>
          </a:xfrm>
          <a:prstGeom prst="roundRect">
            <a:avLst>
              <a:gd name="adj" fmla="val 50000"/>
            </a:avLst>
          </a:prstGeom>
          <a:solidFill>
            <a:srgbClr val="271C2E"/>
          </a:solidFill>
          <a:ln w="9525">
            <a:solidFill>
              <a:srgbClr val="F0A9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58384" y="379476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39128" y="3794760"/>
            <a:ext cx="978408" cy="457200"/>
          </a:xfrm>
          <a:prstGeom prst="roundRect">
            <a:avLst>
              <a:gd name="adj" fmla="val 50000"/>
            </a:avLst>
          </a:prstGeom>
          <a:solidFill>
            <a:srgbClr val="271C2E"/>
          </a:solidFill>
          <a:ln w="9525">
            <a:solidFill>
              <a:srgbClr val="F0A9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39128" y="3794760"/>
            <a:ext cx="97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ADS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вопросы.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2026-07-25T08:07:19Z</dcterms:created>
  <dcterms:modified xsi:type="dcterms:W3CDTF">2026-07-25T08:07:19Z</dcterms:modified>
</cp:coreProperties>
</file>